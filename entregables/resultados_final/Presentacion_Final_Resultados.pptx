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5" r:id="rId12"/>
  </p:sldIdLst>
  <p:sldSz cx="12192000" cy="6858000"/>
  <p:notesSz cx="6858000" cy="12192000"/>
  <p:embeddedFontLst>
    <p:embeddedFont>
      <p:font typeface="Comfortaa Bold" panose="020B0604020202020204" charset="0"/>
      <p:regular r:id="rId14"/>
    </p:embeddedFont>
    <p:embeddedFont>
      <p:font typeface="Raleway Bold" panose="020B0604020202020204" charset="0"/>
      <p:regular r:id="rId15"/>
    </p:embeddedFont>
    <p:embeddedFont>
      <p:font typeface="Raleway Medium" pitchFamily="2" charset="0"/>
      <p:regular r:id="rId1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9" d="100"/>
          <a:sy n="89" d="100"/>
        </p:scale>
        <p:origin x="437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font" Target="fonts/font1.fntdata"/><Relationship Id="rId15" Type="http://schemas.openxmlformats.org/officeDocument/2006/relationships/font" Target="fonts/font2.fntdata"/><Relationship Id="rId16" Type="http://schemas.openxmlformats.org/officeDocument/2006/relationships/font" Target="fonts/font3.fntdata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04893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1E"/>
          </a:solidFill>
          <a:ln/>
        </p:spPr>
        <p:txBody>
          <a:bodyPr/>
          <a:lstStyle/>
          <a:p>
            <a:endParaRPr lang="es-GT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7272B"/>
          </a:solidFill>
          <a:ln/>
        </p:spPr>
        <p:txBody>
          <a:bodyPr/>
          <a:lstStyle/>
          <a:p>
            <a:endParaRPr lang="es-GT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svg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2.png"/><Relationship Id="rId6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Relationship Id="rId4" Type="http://schemas.openxmlformats.org/officeDocument/2006/relationships/image" Target="../media/image2.png"/><Relationship Id="rId5" Type="http://schemas.openxmlformats.org/officeDocument/2006/relationships/image" Target="../media/image1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2.png"/><Relationship Id="rId6" Type="http://schemas.openxmlformats.org/officeDocument/2006/relationships/image" Target="../media/image1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2.png"/><Relationship Id="rId4" Type="http://schemas.openxmlformats.org/officeDocument/2006/relationships/image" Target="../media/image1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4200" y="1864519"/>
            <a:ext cx="10723294" cy="11654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b="1" dirty="0">
                <a:solidFill>
                  <a:srgbClr val="FFE14D"/>
                </a:solidFill>
                <a:latin typeface="Comfortaa Bold" pitchFamily="34" charset="0"/>
                <a:ea typeface="Comfortaa Bold" pitchFamily="34" charset="-122"/>
                <a:cs typeface="Comfortaa Bold" pitchFamily="34" charset="-120"/>
              </a:rPr>
              <a:t>Predicción de compradores recurrentes en Tmall</a:t>
            </a:r>
            <a:endParaRPr lang="en-US" sz="3650" dirty="0"/>
          </a:p>
        </p:txBody>
      </p:sp>
      <p:sp>
        <p:nvSpPr>
          <p:cNvPr id="3" name="Text 1"/>
          <p:cNvSpPr/>
          <p:nvPr/>
        </p:nvSpPr>
        <p:spPr>
          <a:xfrm>
            <a:off x="734200" y="3113782"/>
            <a:ext cx="10723294" cy="2914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FFE14D"/>
                </a:solidFill>
                <a:latin typeface="Comfortaa Bold" pitchFamily="34" charset="0"/>
                <a:ea typeface="Comfortaa Bold" pitchFamily="34" charset="-122"/>
                <a:cs typeface="Comfortaa Bold" pitchFamily="34" charset="-120"/>
              </a:rPr>
              <a:t>Resultados y visualizaciones estáticas · entrega final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4200" y="3772198"/>
            <a:ext cx="10723294" cy="25400"/>
          </a:xfrm>
          <a:prstGeom prst="roundRect">
            <a:avLst>
              <a:gd name="adj" fmla="val 49999"/>
            </a:avLst>
          </a:prstGeom>
          <a:solidFill>
            <a:srgbClr val="D7D4CC">
              <a:alpha val="50000"/>
            </a:srgbClr>
          </a:solidFill>
          <a:ln/>
        </p:spPr>
        <p:txBody>
          <a:bodyPr/>
          <a:lstStyle/>
          <a:p>
            <a:endParaRPr lang="es-GT"/>
          </a:p>
        </p:txBody>
      </p:sp>
      <p:sp>
        <p:nvSpPr>
          <p:cNvPr id="5" name="Text 3"/>
          <p:cNvSpPr/>
          <p:nvPr/>
        </p:nvSpPr>
        <p:spPr>
          <a:xfrm>
            <a:off x="734200" y="4085927"/>
            <a:ext cx="10723294" cy="9074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spcAft>
                <a:spcPts val="1850"/>
              </a:spcAft>
              <a:buNone/>
            </a:pPr>
            <a:r>
              <a:rPr lang="en-US" sz="1650" b="1" dirty="0">
                <a:solidFill>
                  <a:srgbClr val="D7D4CC"/>
                </a:solidFill>
                <a:latin typeface="Raleway Bold" pitchFamily="34" charset="0"/>
                <a:ea typeface="Raleway Bold" pitchFamily="34" charset="-122"/>
                <a:cs typeface="Raleway Bold" pitchFamily="34" charset="-120"/>
              </a:rPr>
              <a:t>Grupo 4 · Proyecto 2 · Resultados y Visualizaciones Estáticas
David Dominguez · 23712  |  Gabriel Bran · 23590  |  Luis Padilla · 23663</a:t>
            </a:r>
            <a:r>
              <a:rPr lang="en-US" sz="1650" dirty="0">
                <a:solidFill>
                  <a:srgbClr val="D7D4CC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/>
            </a:r>
            <a:endParaRPr lang="en-US" sz="16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650" dirty="0">
                <a:solidFill>
                  <a:srgbClr val="D7D4CC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/>
            </a:r>
            <a:endParaRPr lang="en-US" sz="1650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91CAC51A-739B-F36E-AC01-DB37167D06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6946" y="6530691"/>
            <a:ext cx="1105054" cy="31436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4200" y="759619"/>
            <a:ext cx="10723294" cy="4006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500" b="1" dirty="0">
                <a:solidFill>
                  <a:srgbClr val="FFE14D"/>
                </a:solidFill>
                <a:latin typeface="Comfortaa Bold" pitchFamily="34" charset="0"/>
                <a:ea typeface="Comfortaa Bold" pitchFamily="34" charset="-122"/>
                <a:cs typeface="Comfortaa Bold" pitchFamily="34" charset="-120"/>
              </a:rPr>
              <a:t>La pregunta: ¿quién volverá a comprar al mismo vendedor?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734200" y="1358503"/>
            <a:ext cx="10723294" cy="653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3520" indent="-223520" algn="l">
              <a:lnSpc>
                <a:spcPct val="113000"/>
              </a:lnSpc>
              <a:buSzPct val="100000"/>
              <a:buChar char="•"/>
            </a:pPr>
            <a:r>
              <a:rPr lang="en-US" sz="1100" dirty="0">
                <a:solidFill>
                  <a:srgbClr val="D7D4CC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Unidad de análisis: par usuario-vendedor de Tmall tras Double 11.
260 864 pares etiquetados; 15 952 compradores recurrentes (6,12 %).
La prueba oficial no tiene etiquetas: evaluamos una partición interna.</a:t>
            </a:r>
            <a:endParaRPr lang="en-US" sz="1100" dirty="0"/>
          </a:p>
          <a:p>
            <a:pPr marL="223520" indent="-223520" algn="l">
              <a:lnSpc>
                <a:spcPct val="113000"/>
              </a:lnSpc>
              <a:buSzPct val="100000"/>
              <a:buChar char="•"/>
            </a:pPr>
            <a:r>
              <a:rPr lang="en-US" sz="1100" dirty="0">
                <a:solidFill>
                  <a:srgbClr val="D7D4CC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/>
            </a:r>
            <a:endParaRPr lang="en-US" sz="1100" dirty="0"/>
          </a:p>
          <a:p>
            <a:pPr marL="223520" indent="-223520" algn="l">
              <a:lnSpc>
                <a:spcPct val="113000"/>
              </a:lnSpc>
              <a:buSzPct val="100000"/>
              <a:buChar char="•"/>
            </a:pPr>
            <a:r>
              <a:rPr lang="en-US" sz="1100" dirty="0">
                <a:solidFill>
                  <a:srgbClr val="D7D4CC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/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2414324" y="5109834"/>
            <a:ext cx="1760069" cy="2144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Comfortaa Bold" pitchFamily="34" charset="0"/>
                <a:ea typeface="Comfortaa Bold" pitchFamily="34" charset="-122"/>
                <a:cs typeface="Comfortaa Bold" pitchFamily="34" charset="-120"/>
              </a:rPr>
              <a:t/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2414324" y="4260540"/>
            <a:ext cx="1748139" cy="2144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Comfortaa Bold" pitchFamily="34" charset="0"/>
                <a:ea typeface="Comfortaa Bold" pitchFamily="34" charset="-122"/>
                <a:cs typeface="Comfortaa Bold" pitchFamily="34" charset="-120"/>
              </a:rPr>
              <a:t/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2414324" y="3419825"/>
            <a:ext cx="1715702" cy="2144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Comfortaa Bold" pitchFamily="34" charset="0"/>
                <a:ea typeface="Comfortaa Bold" pitchFamily="34" charset="-122"/>
                <a:cs typeface="Comfortaa Bold" pitchFamily="34" charset="-120"/>
              </a:rPr>
              <a:t/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2414324" y="2570531"/>
            <a:ext cx="1715702" cy="2144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Comfortaa Bold" pitchFamily="34" charset="0"/>
                <a:ea typeface="Comfortaa Bold" pitchFamily="34" charset="-122"/>
                <a:cs typeface="Comfortaa Bold" pitchFamily="34" charset="-120"/>
              </a:rPr>
              <a:t/>
            </a:r>
            <a:endParaRPr lang="en-US" sz="1350" dirty="0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9E1A549B-383D-B935-9321-A440E14640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86946" y="6530691"/>
            <a:ext cx="1105054" cy="314369"/>
          </a:xfrm>
          <a:prstGeom prst="rect">
            <a:avLst/>
          </a:prstGeom>
        </p:spPr>
      </p:pic>
      <p:pic>
        <p:nvPicPr>
          <p:cNvPr id="12" name="Picture 11" descr="01_distribucion_recompr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1851" y="2189241"/>
            <a:ext cx="8507894" cy="353699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4200" y="690265"/>
            <a:ext cx="10723294" cy="582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b="1" dirty="0">
                <a:solidFill>
                  <a:srgbClr val="FFE14D"/>
                </a:solidFill>
                <a:latin typeface="Comfortaa Bold" pitchFamily="34" charset="0"/>
                <a:ea typeface="Comfortaa Bold" pitchFamily="34" charset="-122"/>
                <a:cs typeface="Comfortaa Bold" pitchFamily="34" charset="-120"/>
              </a:rPr>
              <a:t>Objetivos del estudio</a:t>
            </a:r>
            <a:endParaRPr lang="en-US" sz="3650" dirty="0"/>
          </a:p>
        </p:txBody>
      </p:sp>
      <p:sp>
        <p:nvSpPr>
          <p:cNvPr id="3" name="Text 1"/>
          <p:cNvSpPr/>
          <p:nvPr/>
        </p:nvSpPr>
        <p:spPr>
          <a:xfrm>
            <a:off x="1048815" y="1928515"/>
            <a:ext cx="10408679" cy="6715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50" dirty="0">
                <a:solidFill>
                  <a:srgbClr val="D7D4CC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¿Qué señales disponibles hasta el Double 11 permiten ordenar pares comprador-vendedor por su recompra posterior?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734200" y="1692573"/>
            <a:ext cx="25399" cy="1143397"/>
          </a:xfrm>
          <a:prstGeom prst="roundRect">
            <a:avLst>
              <a:gd name="adj" fmla="val 50001"/>
            </a:avLst>
          </a:prstGeom>
          <a:solidFill>
            <a:srgbClr val="FFE14D"/>
          </a:solidFill>
          <a:ln/>
        </p:spPr>
        <p:txBody>
          <a:bodyPr/>
          <a:lstStyle/>
          <a:p>
            <a:endParaRPr lang="es-GT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4200" y="3071912"/>
            <a:ext cx="3434570" cy="252412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94178" y="3215283"/>
            <a:ext cx="314615" cy="39330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450" b="1" dirty="0">
                <a:solidFill>
                  <a:srgbClr val="D7D4CC"/>
                </a:solidFill>
                <a:latin typeface="Comfortaa Bold" pitchFamily="34" charset="0"/>
                <a:ea typeface="Comfortaa Bold" pitchFamily="34" charset="-122"/>
                <a:cs typeface="Comfortaa Bold" pitchFamily="34" charset="-120"/>
              </a:rPr>
              <a:t>1</a:t>
            </a:r>
            <a:endParaRPr lang="en-US" sz="2450" dirty="0"/>
          </a:p>
        </p:txBody>
      </p:sp>
      <p:sp>
        <p:nvSpPr>
          <p:cNvPr id="7" name="Text 4"/>
          <p:cNvSpPr/>
          <p:nvPr/>
        </p:nvSpPr>
        <p:spPr>
          <a:xfrm>
            <a:off x="969343" y="3936405"/>
            <a:ext cx="2964284" cy="2914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D7D4CC"/>
                </a:solidFill>
                <a:latin typeface="Comfortaa Bold" pitchFamily="34" charset="0"/>
                <a:ea typeface="Comfortaa Bold" pitchFamily="34" charset="-122"/>
                <a:cs typeface="Comfortaa Bold" pitchFamily="34" charset="-120"/>
              </a:rPr>
              <a:t>Caracterizar los datos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69343" y="4353620"/>
            <a:ext cx="2964284" cy="10072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50" dirty="0">
                <a:solidFill>
                  <a:srgbClr val="D7D4CC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Calidad, desbalance, actividad, demografía y tiempo.</a:t>
            </a:r>
            <a:endParaRPr lang="en-US" sz="165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78513" y="3071912"/>
            <a:ext cx="3434570" cy="252412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938490" y="3215283"/>
            <a:ext cx="314615" cy="39330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450" b="1" dirty="0">
                <a:solidFill>
                  <a:srgbClr val="D7D4CC"/>
                </a:solidFill>
                <a:latin typeface="Comfortaa Bold" pitchFamily="34" charset="0"/>
                <a:ea typeface="Comfortaa Bold" pitchFamily="34" charset="-122"/>
                <a:cs typeface="Comfortaa Bold" pitchFamily="34" charset="-120"/>
              </a:rPr>
              <a:t>2</a:t>
            </a:r>
            <a:endParaRPr lang="en-US" sz="2450" dirty="0"/>
          </a:p>
        </p:txBody>
      </p:sp>
      <p:sp>
        <p:nvSpPr>
          <p:cNvPr id="11" name="Text 7"/>
          <p:cNvSpPr/>
          <p:nvPr/>
        </p:nvSpPr>
        <p:spPr>
          <a:xfrm>
            <a:off x="4613656" y="3936405"/>
            <a:ext cx="2964284" cy="2914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D7D4CC"/>
                </a:solidFill>
                <a:latin typeface="Comfortaa Bold" pitchFamily="34" charset="0"/>
                <a:ea typeface="Comfortaa Bold" pitchFamily="34" charset="-122"/>
                <a:cs typeface="Comfortaa Bold" pitchFamily="34" charset="-120"/>
              </a:rPr>
              <a:t>Construir y comparar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4613656" y="4353620"/>
            <a:ext cx="2964284" cy="6715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50" dirty="0">
                <a:solidFill>
                  <a:srgbClr val="D7D4CC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64 variables; tres algoritmos y un ensamble con usuarios separados.</a:t>
            </a:r>
            <a:endParaRPr lang="en-US" sz="165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22826" y="3071912"/>
            <a:ext cx="3434669" cy="2524125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9582803" y="3215283"/>
            <a:ext cx="314615" cy="39330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450" b="1" dirty="0">
                <a:solidFill>
                  <a:srgbClr val="D7D4CC"/>
                </a:solidFill>
                <a:latin typeface="Comfortaa Bold" pitchFamily="34" charset="0"/>
                <a:ea typeface="Comfortaa Bold" pitchFamily="34" charset="-122"/>
                <a:cs typeface="Comfortaa Bold" pitchFamily="34" charset="-120"/>
              </a:rPr>
              <a:t>3</a:t>
            </a:r>
            <a:endParaRPr lang="en-US" sz="2450" dirty="0"/>
          </a:p>
        </p:txBody>
      </p:sp>
      <p:sp>
        <p:nvSpPr>
          <p:cNvPr id="15" name="Text 10"/>
          <p:cNvSpPr/>
          <p:nvPr/>
        </p:nvSpPr>
        <p:spPr>
          <a:xfrm>
            <a:off x="8257968" y="3936405"/>
            <a:ext cx="2964384" cy="2914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D7D4CC"/>
                </a:solidFill>
                <a:latin typeface="Comfortaa Bold" pitchFamily="34" charset="0"/>
                <a:ea typeface="Comfortaa Bold" pitchFamily="34" charset="-122"/>
                <a:cs typeface="Comfortaa Bold" pitchFamily="34" charset="-120"/>
              </a:rPr>
              <a:t>Integrar en la aplicación</a:t>
            </a:r>
            <a:endParaRPr lang="en-US" sz="1800" dirty="0"/>
          </a:p>
        </p:txBody>
      </p:sp>
      <p:sp>
        <p:nvSpPr>
          <p:cNvPr id="16" name="Text 11"/>
          <p:cNvSpPr/>
          <p:nvPr/>
        </p:nvSpPr>
        <p:spPr>
          <a:xfrm>
            <a:off x="8257968" y="4353620"/>
            <a:ext cx="2964384" cy="10072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50" dirty="0">
                <a:solidFill>
                  <a:srgbClr val="D7D4CC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Explorar, comparar modelos y clasificar pares.</a:t>
            </a:r>
            <a:endParaRPr lang="en-US" sz="1650" dirty="0"/>
          </a:p>
        </p:txBody>
      </p:sp>
      <p:pic>
        <p:nvPicPr>
          <p:cNvPr id="19" name="Imagen 18">
            <a:extLst>
              <a:ext uri="{FF2B5EF4-FFF2-40B4-BE49-F238E27FC236}">
                <a16:creationId xmlns:a16="http://schemas.microsoft.com/office/drawing/2014/main" id="{419AAA59-767F-744A-C110-AB9442C7A5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86946" y="6530691"/>
            <a:ext cx="1105054" cy="31436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4200" y="745430"/>
            <a:ext cx="10723294" cy="11654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b="1" dirty="0">
                <a:solidFill>
                  <a:srgbClr val="FFE14D"/>
                </a:solidFill>
                <a:latin typeface="Comfortaa Bold" pitchFamily="34" charset="0"/>
                <a:ea typeface="Comfortaa Bold" pitchFamily="34" charset="-122"/>
                <a:cs typeface="Comfortaa Bold" pitchFamily="34" charset="-120"/>
              </a:rPr>
              <a:t>Diseño analítico: comportamiento, prueba y utilidad</a:t>
            </a:r>
            <a:endParaRPr lang="en-US" sz="3650" dirty="0"/>
          </a:p>
        </p:txBody>
      </p:sp>
      <p:sp>
        <p:nvSpPr>
          <p:cNvPr id="3" name="Shape 1"/>
          <p:cNvSpPr/>
          <p:nvPr/>
        </p:nvSpPr>
        <p:spPr>
          <a:xfrm>
            <a:off x="734200" y="2330450"/>
            <a:ext cx="3434570" cy="2135386"/>
          </a:xfrm>
          <a:prstGeom prst="roundRect">
            <a:avLst>
              <a:gd name="adj" fmla="val 14737"/>
            </a:avLst>
          </a:prstGeom>
          <a:solidFill>
            <a:srgbClr val="1E3A5F"/>
          </a:solidFill>
          <a:ln/>
        </p:spPr>
        <p:txBody>
          <a:bodyPr/>
          <a:lstStyle/>
          <a:p>
            <a:endParaRPr lang="es-GT"/>
          </a:p>
        </p:txBody>
      </p:sp>
      <p:sp>
        <p:nvSpPr>
          <p:cNvPr id="4" name="Text 2"/>
          <p:cNvSpPr/>
          <p:nvPr/>
        </p:nvSpPr>
        <p:spPr>
          <a:xfrm>
            <a:off x="943944" y="2540198"/>
            <a:ext cx="3015083" cy="2914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omfortaa Bold" pitchFamily="34" charset="0"/>
                <a:ea typeface="Comfortaa Bold" pitchFamily="34" charset="-122"/>
                <a:cs typeface="Comfortaa Bold" pitchFamily="34" charset="-120"/>
              </a:rPr>
              <a:t>Unidad y momento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43944" y="2957413"/>
            <a:ext cx="3015083" cy="10072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Par usuario-vendedor; actividad anterior o del 11/11.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4378513" y="2330450"/>
            <a:ext cx="3434570" cy="2135386"/>
          </a:xfrm>
          <a:prstGeom prst="roundRect">
            <a:avLst>
              <a:gd name="adj" fmla="val 14737"/>
            </a:avLst>
          </a:prstGeom>
          <a:solidFill>
            <a:srgbClr val="1E3A5F"/>
          </a:solidFill>
          <a:ln/>
        </p:spPr>
        <p:txBody>
          <a:bodyPr/>
          <a:lstStyle/>
          <a:p>
            <a:endParaRPr lang="es-GT"/>
          </a:p>
        </p:txBody>
      </p:sp>
      <p:sp>
        <p:nvSpPr>
          <p:cNvPr id="7" name="Text 5"/>
          <p:cNvSpPr/>
          <p:nvPr/>
        </p:nvSpPr>
        <p:spPr>
          <a:xfrm>
            <a:off x="4588256" y="2540198"/>
            <a:ext cx="3015083" cy="5828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omfortaa Bold" pitchFamily="34" charset="0"/>
                <a:ea typeface="Comfortaa Bold" pitchFamily="34" charset="-122"/>
                <a:cs typeface="Comfortaa Bold" pitchFamily="34" charset="-120"/>
              </a:rPr>
              <a:t>Validación agrupada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88256" y="3248819"/>
            <a:ext cx="3015083" cy="10072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Usuarios separados en entrenamiento, validación y prueba interna.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8022826" y="2330450"/>
            <a:ext cx="3434669" cy="2135386"/>
          </a:xfrm>
          <a:prstGeom prst="roundRect">
            <a:avLst>
              <a:gd name="adj" fmla="val 14737"/>
            </a:avLst>
          </a:prstGeom>
          <a:solidFill>
            <a:srgbClr val="1E3A5F"/>
          </a:solidFill>
          <a:ln/>
        </p:spPr>
        <p:txBody>
          <a:bodyPr/>
          <a:lstStyle/>
          <a:p>
            <a:endParaRPr lang="es-GT"/>
          </a:p>
        </p:txBody>
      </p:sp>
      <p:sp>
        <p:nvSpPr>
          <p:cNvPr id="10" name="Text 8"/>
          <p:cNvSpPr/>
          <p:nvPr/>
        </p:nvSpPr>
        <p:spPr>
          <a:xfrm>
            <a:off x="8232569" y="2540198"/>
            <a:ext cx="3015182" cy="2914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omfortaa Bold" pitchFamily="34" charset="0"/>
                <a:ea typeface="Comfortaa Bold" pitchFamily="34" charset="-122"/>
                <a:cs typeface="Comfortaa Bold" pitchFamily="34" charset="-120"/>
              </a:rPr>
              <a:t>Uso de resultados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232569" y="2957413"/>
            <a:ext cx="3015182" cy="10072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Priorizar acciones de retención con capacidad limitada.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34200" y="4701778"/>
            <a:ext cx="10723294" cy="839093"/>
          </a:xfrm>
          <a:prstGeom prst="roundRect">
            <a:avLst>
              <a:gd name="adj" fmla="val 37505"/>
            </a:avLst>
          </a:prstGeom>
          <a:solidFill>
            <a:srgbClr val="806A00"/>
          </a:solidFill>
          <a:ln/>
        </p:spPr>
        <p:txBody>
          <a:bodyPr/>
          <a:lstStyle/>
          <a:p>
            <a:endParaRPr lang="es-GT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944" y="5002609"/>
            <a:ext cx="262229" cy="209748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415915" y="4963914"/>
            <a:ext cx="10441421" cy="3357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Las asociaciones y las importancias de variables no demuestran causalidad.</a:t>
            </a:r>
            <a:r>
              <a:rPr lang="en-US" sz="1650" b="1" dirty="0">
                <a:solidFill>
                  <a:srgbClr val="FFFFFF"/>
                </a:solidFill>
                <a:latin typeface="Raleway Bold" pitchFamily="34" charset="0"/>
                <a:ea typeface="Raleway Bold" pitchFamily="34" charset="-122"/>
                <a:cs typeface="Raleway Bold" pitchFamily="34" charset="-120"/>
              </a:rPr>
              <a:t/>
            </a:r>
            <a:r>
              <a:rPr lang="en-US" sz="1650" dirty="0">
                <a:solidFill>
                  <a:srgbClr val="FFFFFF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/>
            </a:r>
            <a:endParaRPr lang="en-US" sz="1650" dirty="0"/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E613F56F-3A84-88DF-49D7-183B3A431E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86946" y="6530691"/>
            <a:ext cx="1105054" cy="31436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4200" y="598884"/>
            <a:ext cx="10723294" cy="4876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050" b="1" dirty="0">
                <a:solidFill>
                  <a:srgbClr val="FFE14D"/>
                </a:solidFill>
                <a:latin typeface="Comfortaa Bold" pitchFamily="34" charset="0"/>
                <a:ea typeface="Comfortaa Bold" pitchFamily="34" charset="-122"/>
                <a:cs typeface="Comfortaa Bold" pitchFamily="34" charset="-120"/>
              </a:rPr>
              <a:t>Datos, limpieza e ingeniería de variables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734200" y="1453654"/>
            <a:ext cx="3474752" cy="243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b="1" dirty="0">
                <a:solidFill>
                  <a:srgbClr val="FFE14D"/>
                </a:solidFill>
                <a:latin typeface="Comfortaa Bold" pitchFamily="34" charset="0"/>
                <a:ea typeface="Comfortaa Bold" pitchFamily="34" charset="-122"/>
                <a:cs typeface="Comfortaa Bold" pitchFamily="34" charset="-120"/>
              </a:rPr>
              <a:t>Cuatro archivos principales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34200" y="1844278"/>
            <a:ext cx="3474752" cy="25264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74320" indent="-274320" algn="l">
              <a:lnSpc>
                <a:spcPct val="122000"/>
              </a:lnSpc>
              <a:buSzPct val="100000"/>
              <a:buChar char="•"/>
            </a:pPr>
            <a:r>
              <a:rPr lang="en-US" sz="1350" dirty="0">
                <a:solidFill>
                  <a:srgbClr val="D7D4CC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train_format1.csv: 260 864 pares etiquetados
test_format1.csv: 261 477 pares sin etiqueta
user_info_format1.csv: 424 170 usuarios
user_log_format1.csv: 54 925 330 eventos</a:t>
            </a:r>
            <a:endParaRPr lang="en-US" sz="1350" dirty="0"/>
          </a:p>
          <a:p>
            <a:pPr marL="274320" indent="-274320" algn="l">
              <a:lnSpc>
                <a:spcPct val="122000"/>
              </a:lnSpc>
              <a:buSzPct val="100000"/>
              <a:buChar char="•"/>
            </a:pPr>
            <a:r>
              <a:rPr lang="en-US" sz="1350" dirty="0">
                <a:solidFill>
                  <a:srgbClr val="D7D4CC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/>
            </a:r>
            <a:endParaRPr lang="en-US" sz="1350" dirty="0"/>
          </a:p>
          <a:p>
            <a:pPr marL="274320" indent="-274320" algn="l">
              <a:lnSpc>
                <a:spcPct val="122000"/>
              </a:lnSpc>
              <a:buSzPct val="100000"/>
              <a:buChar char="•"/>
            </a:pPr>
            <a:r>
              <a:rPr lang="en-US" sz="1350" dirty="0">
                <a:solidFill>
                  <a:srgbClr val="D7D4CC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/>
            </a:r>
            <a:endParaRPr lang="en-US" sz="1350" dirty="0"/>
          </a:p>
          <a:p>
            <a:pPr marL="274320" indent="-274320" algn="l">
              <a:lnSpc>
                <a:spcPct val="122000"/>
              </a:lnSpc>
              <a:buSzPct val="100000"/>
              <a:buChar char="•"/>
            </a:pPr>
            <a:r>
              <a:rPr lang="en-US" sz="1350" dirty="0">
                <a:solidFill>
                  <a:srgbClr val="D7D4CC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/>
            </a:r>
            <a:endParaRPr lang="en-US" sz="1350" dirty="0"/>
          </a:p>
          <a:p>
            <a:pPr marL="274320" indent="-274320" algn="l">
              <a:lnSpc>
                <a:spcPct val="122000"/>
              </a:lnSpc>
              <a:buSzPct val="100000"/>
              <a:buChar char="•"/>
            </a:pPr>
            <a:r>
              <a:rPr lang="en-US" sz="1350" dirty="0">
                <a:solidFill>
                  <a:srgbClr val="D7D4CC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/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734200" y="4517529"/>
            <a:ext cx="3474752" cy="243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b="1" dirty="0">
                <a:solidFill>
                  <a:srgbClr val="FFE14D"/>
                </a:solidFill>
                <a:latin typeface="Comfortaa Bold" pitchFamily="34" charset="0"/>
                <a:ea typeface="Comfortaa Bold" pitchFamily="34" charset="-122"/>
                <a:cs typeface="Comfortaa Bold" pitchFamily="34" charset="-120"/>
              </a:rPr>
              <a:t>Tabla para modelar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4200" y="4908153"/>
            <a:ext cx="3474752" cy="8763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74320" indent="-274320" algn="l">
              <a:lnSpc>
                <a:spcPct val="122000"/>
              </a:lnSpc>
              <a:buSzPct val="100000"/>
              <a:buChar char="•"/>
            </a:pPr>
            <a:r>
              <a:rPr lang="en-US" sz="1350" dirty="0">
                <a:solidFill>
                  <a:srgbClr val="D7D4CC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64 variables analíticas sin etiqueta
+ merchant_id codificado = 65 entradas</a:t>
            </a:r>
            <a:endParaRPr lang="en-US" sz="1350" dirty="0"/>
          </a:p>
          <a:p>
            <a:pPr marL="274320" indent="-274320" algn="l">
              <a:lnSpc>
                <a:spcPct val="122000"/>
              </a:lnSpc>
              <a:buSzPct val="100000"/>
              <a:buChar char="•"/>
            </a:pPr>
            <a:r>
              <a:rPr lang="en-US" sz="1350" dirty="0">
                <a:solidFill>
                  <a:srgbClr val="D7D4CC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/>
            </a:r>
            <a:endParaRPr lang="en-US" sz="1350" dirty="0"/>
          </a:p>
          <a:p>
            <a:pPr marL="274320" indent="-274320" algn="l">
              <a:lnSpc>
                <a:spcPct val="122000"/>
              </a:lnSpc>
              <a:buSzPct val="100000"/>
              <a:buChar char="•"/>
            </a:pPr>
            <a:r>
              <a:rPr lang="en-US" sz="1350" dirty="0">
                <a:solidFill>
                  <a:srgbClr val="D7D4CC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/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096000" y="4517529"/>
            <a:ext cx="6820225" cy="243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b="1" dirty="0">
                <a:solidFill>
                  <a:srgbClr val="FFE14D"/>
                </a:solidFill>
                <a:latin typeface="Comfortaa Bold" pitchFamily="34" charset="0"/>
                <a:ea typeface="Comfortaa Bold" pitchFamily="34" charset="-122"/>
                <a:cs typeface="Comfortaa Bold" pitchFamily="34" charset="-120"/>
              </a:rPr>
              <a:t>Control de calidad y fuga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096000" y="4908153"/>
            <a:ext cx="6820225" cy="1185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74320" indent="-274320" algn="l">
              <a:lnSpc>
                <a:spcPct val="122000"/>
              </a:lnSpc>
              <a:buSzPct val="100000"/>
              <a:buChar char="•"/>
            </a:pPr>
            <a:r>
              <a:rPr lang="en-US" sz="1350" dirty="0">
                <a:solidFill>
                  <a:srgbClr val="D7D4CC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Duplicados del log conservados por falta de hora
Faltantes de marca excluidos solo de diversidad
Partición por usuario: 208 691 / 52 173 pares
Codificación de vendedor ajustada dentro de cada pliegue</a:t>
            </a:r>
            <a:endParaRPr lang="en-US" sz="1350" dirty="0"/>
          </a:p>
          <a:p>
            <a:pPr marL="274320" indent="-274320" algn="l">
              <a:lnSpc>
                <a:spcPct val="122000"/>
              </a:lnSpc>
              <a:buSzPct val="100000"/>
              <a:buChar char="•"/>
            </a:pPr>
            <a:r>
              <a:rPr lang="en-US" sz="1350" dirty="0">
                <a:solidFill>
                  <a:srgbClr val="D7D4CC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/>
            </a:r>
            <a:endParaRPr lang="en-US" sz="1350" dirty="0"/>
          </a:p>
          <a:p>
            <a:pPr marL="274320" indent="-274320" algn="l">
              <a:lnSpc>
                <a:spcPct val="122000"/>
              </a:lnSpc>
              <a:buSzPct val="100000"/>
              <a:buChar char="•"/>
            </a:pPr>
            <a:r>
              <a:rPr lang="en-US" sz="1350" dirty="0">
                <a:solidFill>
                  <a:srgbClr val="D7D4CC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/>
            </a:r>
            <a:endParaRPr lang="en-US" sz="1350" dirty="0"/>
          </a:p>
          <a:p>
            <a:pPr marL="274320" indent="-274320" algn="l">
              <a:lnSpc>
                <a:spcPct val="122000"/>
              </a:lnSpc>
              <a:buSzPct val="100000"/>
              <a:buChar char="•"/>
            </a:pPr>
            <a:r>
              <a:rPr lang="en-US" sz="1350" dirty="0">
                <a:solidFill>
                  <a:srgbClr val="D7D4CC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/>
            </a:r>
            <a:endParaRPr lang="en-US" sz="1350" dirty="0"/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7DCC056F-DA8F-CF24-D94A-442B5BE292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86946" y="6530691"/>
            <a:ext cx="1105054" cy="314369"/>
          </a:xfrm>
          <a:prstGeom prst="rect">
            <a:avLst/>
          </a:prstGeom>
        </p:spPr>
      </p:pic>
      <p:pic>
        <p:nvPicPr>
          <p:cNvPr id="14" name="Picture 13" descr="17_auc_individual_variabl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2748" y="1489028"/>
            <a:ext cx="2831317" cy="254435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4200" y="579239"/>
            <a:ext cx="10723294" cy="5736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00" b="1" dirty="0">
                <a:solidFill>
                  <a:srgbClr val="FFE14D"/>
                </a:solidFill>
                <a:latin typeface="Comfortaa Bold" pitchFamily="34" charset="0"/>
                <a:ea typeface="Comfortaa Bold" pitchFamily="34" charset="-122"/>
                <a:cs typeface="Comfortaa Bold" pitchFamily="34" charset="-120"/>
              </a:rPr>
              <a:t>Solo 6,12 % de los pares registra recompra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038105" y="1661120"/>
            <a:ext cx="3425640" cy="286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FFE14D"/>
                </a:solidFill>
                <a:latin typeface="Comfortaa Bold" pitchFamily="34" charset="0"/>
                <a:ea typeface="Comfortaa Bold" pitchFamily="34" charset="-122"/>
                <a:cs typeface="Comfortaa Bold" pitchFamily="34" charset="-120"/>
              </a:rPr>
              <a:t>Distribución de clases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038105" y="2151261"/>
            <a:ext cx="3425640" cy="13828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25120" indent="-325120" algn="l">
              <a:lnSpc>
                <a:spcPct val="132000"/>
              </a:lnSpc>
              <a:buSzPct val="100000"/>
              <a:buChar char="•"/>
            </a:pPr>
            <a:r>
              <a:rPr lang="en-US" sz="1600" b="1" dirty="0">
                <a:solidFill>
                  <a:srgbClr val="D7D4CC"/>
                </a:solidFill>
                <a:latin typeface="Raleway Bold" pitchFamily="34" charset="0"/>
                <a:ea typeface="Raleway Bold" pitchFamily="34" charset="-122"/>
                <a:cs typeface="Raleway Bold" pitchFamily="34" charset="-120"/>
              </a:rPr>
              <a:t>No recurrentes: 244 912 (93,88 %)
Recurrentes: 15 952 (6,12 %)</a:t>
            </a:r>
            <a:r>
              <a:rPr lang="en-US" sz="1600" dirty="0">
                <a:solidFill>
                  <a:srgbClr val="D7D4CC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/>
            </a:r>
            <a:endParaRPr lang="en-US" sz="1600" dirty="0"/>
          </a:p>
          <a:p>
            <a:pPr marL="325120" indent="-325120" algn="l">
              <a:lnSpc>
                <a:spcPct val="132000"/>
              </a:lnSpc>
              <a:buSzPct val="100000"/>
              <a:buChar char="•"/>
            </a:pPr>
            <a:r>
              <a:rPr lang="en-US" sz="1600" b="1" dirty="0">
                <a:solidFill>
                  <a:srgbClr val="D7D4CC"/>
                </a:solidFill>
                <a:latin typeface="Raleway Bold" pitchFamily="34" charset="0"/>
                <a:ea typeface="Raleway Bold" pitchFamily="34" charset="-122"/>
                <a:cs typeface="Raleway Bold" pitchFamily="34" charset="-120"/>
              </a:rPr>
              <a:t/>
            </a:r>
            <a:r>
              <a:rPr lang="en-US" sz="1600" dirty="0">
                <a:solidFill>
                  <a:srgbClr val="D7D4CC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/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038105" y="3737372"/>
            <a:ext cx="3425640" cy="286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FFE14D"/>
                </a:solidFill>
                <a:latin typeface="Comfortaa Bold" pitchFamily="34" charset="0"/>
                <a:ea typeface="Comfortaa Bold" pitchFamily="34" charset="-122"/>
                <a:cs typeface="Comfortaa Bold" pitchFamily="34" charset="-120"/>
              </a:rPr>
              <a:t>Consecuencia para evaluar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038105" y="4227513"/>
            <a:ext cx="3425640" cy="1311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600" dirty="0">
                <a:solidFill>
                  <a:srgbClr val="D7D4CC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Una predicción siempre negativa daría 93,88 % de exactitud. Por ello comparamos AUC-ROC, AUC-PR, F1 y captura del 10 % superior.</a:t>
            </a:r>
            <a:r>
              <a:rPr lang="en-US" sz="1600" b="1" dirty="0">
                <a:solidFill>
                  <a:srgbClr val="D7D4CC"/>
                </a:solidFill>
                <a:latin typeface="Raleway Bold" pitchFamily="34" charset="0"/>
                <a:ea typeface="Raleway Bold" pitchFamily="34" charset="-122"/>
                <a:cs typeface="Raleway Bold" pitchFamily="34" charset="-120"/>
              </a:rPr>
              <a:t/>
            </a:r>
            <a:r>
              <a:rPr lang="en-US" sz="1600" dirty="0">
                <a:solidFill>
                  <a:srgbClr val="D7D4CC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/>
            </a:r>
            <a:endParaRPr lang="en-US" sz="1600" dirty="0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AAAEE911-45BE-2AD9-4694-3AE99A529C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86946" y="6530691"/>
            <a:ext cx="1105054" cy="314369"/>
          </a:xfrm>
          <a:prstGeom prst="rect">
            <a:avLst/>
          </a:prstGeom>
        </p:spPr>
      </p:pic>
      <p:pic>
        <p:nvPicPr>
          <p:cNvPr id="12" name="Picture 11" descr="01_distribucion_recompr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404" y="2105169"/>
            <a:ext cx="7056983" cy="29338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4200" y="577949"/>
            <a:ext cx="10723294" cy="553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50" b="1" dirty="0">
                <a:solidFill>
                  <a:srgbClr val="FFE14D"/>
                </a:solidFill>
                <a:latin typeface="Comfortaa Bold" pitchFamily="34" charset="0"/>
                <a:ea typeface="Comfortaa Bold" pitchFamily="34" charset="-122"/>
                <a:cs typeface="Comfortaa Bold" pitchFamily="34" charset="-120"/>
              </a:rPr>
              <a:t>Actividad y diversidad: señales de recompra</a:t>
            </a:r>
            <a:endParaRPr lang="en-US" sz="3450" dirty="0"/>
          </a:p>
        </p:txBody>
      </p:sp>
      <p:sp>
        <p:nvSpPr>
          <p:cNvPr id="3" name="Text 1"/>
          <p:cNvSpPr/>
          <p:nvPr/>
        </p:nvSpPr>
        <p:spPr>
          <a:xfrm>
            <a:off x="8026695" y="1604863"/>
            <a:ext cx="3437149" cy="2768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b="1" dirty="0">
                <a:solidFill>
                  <a:srgbClr val="FFE14D"/>
                </a:solidFill>
                <a:latin typeface="Comfortaa Bold" pitchFamily="34" charset="0"/>
                <a:ea typeface="Comfortaa Bold" pitchFamily="34" charset="-122"/>
                <a:cs typeface="Comfortaa Bold" pitchFamily="34" charset="-120"/>
              </a:rPr>
              <a:t>Hallazgos exploratorios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026695" y="2070993"/>
            <a:ext cx="3437149" cy="36190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14960" indent="-314960" algn="l">
              <a:lnSpc>
                <a:spcPct val="130000"/>
              </a:lnSpc>
              <a:buSzPct val="100000"/>
              <a:buChar char="•"/>
            </a:pPr>
            <a:r>
              <a:rPr lang="en-US" sz="1550" dirty="0">
                <a:solidFill>
                  <a:srgbClr val="D7D4CC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Interacciones promedio con el vendedor: 17,149 en recurrentes y 10,415 en no recurrentes.
Productos distintos: 7,471 frente a 4,179.
Actividad previa: recompra 7,36 % frente a 5,14 %.
Son asociaciones, no efectos de aumentar visitas.</a:t>
            </a:r>
            <a:endParaRPr lang="en-US" sz="1550" dirty="0"/>
          </a:p>
          <a:p>
            <a:pPr marL="314960" indent="-314960" algn="l">
              <a:lnSpc>
                <a:spcPct val="130000"/>
              </a:lnSpc>
              <a:buSzPct val="100000"/>
              <a:buChar char="•"/>
            </a:pPr>
            <a:r>
              <a:rPr lang="en-US" sz="1550" dirty="0">
                <a:solidFill>
                  <a:srgbClr val="D7D4CC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/>
            </a:r>
            <a:endParaRPr lang="en-US" sz="1550" dirty="0"/>
          </a:p>
          <a:p>
            <a:pPr marL="314960" indent="-314960" algn="l">
              <a:lnSpc>
                <a:spcPct val="130000"/>
              </a:lnSpc>
              <a:buSzPct val="100000"/>
              <a:buChar char="•"/>
            </a:pPr>
            <a:r>
              <a:rPr lang="en-US" sz="1550" dirty="0">
                <a:solidFill>
                  <a:srgbClr val="D7D4CC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/>
            </a:r>
            <a:endParaRPr lang="en-US" sz="1550" dirty="0"/>
          </a:p>
          <a:p>
            <a:pPr marL="314960" indent="-314960" algn="l">
              <a:lnSpc>
                <a:spcPct val="130000"/>
              </a:lnSpc>
              <a:buSzPct val="100000"/>
              <a:buChar char="•"/>
            </a:pPr>
            <a:r>
              <a:rPr lang="en-US" sz="1550" dirty="0">
                <a:solidFill>
                  <a:srgbClr val="D7D4CC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/>
            </a:r>
            <a:endParaRPr lang="en-US" sz="1550" dirty="0"/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52ABD59F-8399-AEB1-2A41-696CB1189F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86946" y="6530691"/>
            <a:ext cx="1105054" cy="314369"/>
          </a:xfrm>
          <a:prstGeom prst="rect">
            <a:avLst/>
          </a:prstGeom>
        </p:spPr>
      </p:pic>
      <p:pic>
        <p:nvPicPr>
          <p:cNvPr id="13" name="Picture 12" descr="10_label_vs_diversida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2814794"/>
            <a:ext cx="6071616" cy="20147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4200" y="629543"/>
            <a:ext cx="10723294" cy="10161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00" b="1" dirty="0">
                <a:solidFill>
                  <a:srgbClr val="FFE14D"/>
                </a:solidFill>
                <a:latin typeface="Comfortaa Bold" pitchFamily="34" charset="0"/>
                <a:ea typeface="Comfortaa Bold" pitchFamily="34" charset="-122"/>
                <a:cs typeface="Comfortaa Bold" pitchFamily="34" charset="-120"/>
              </a:rPr>
              <a:t>El ajuste mejora sobre todo a Random Forest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000701" y="2044402"/>
            <a:ext cx="3463045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FFE14D"/>
                </a:solidFill>
                <a:latin typeface="Comfortaa Bold" pitchFamily="34" charset="0"/>
                <a:ea typeface="Comfortaa Bold" pitchFamily="34" charset="-122"/>
                <a:cs typeface="Comfortaa Bold" pitchFamily="34" charset="-120"/>
              </a:rPr>
              <a:t>AUC-ROC en validación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000701" y="2457847"/>
            <a:ext cx="3463045" cy="9333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84480" indent="-284480" algn="l">
              <a:lnSpc>
                <a:spcPct val="125000"/>
              </a:lnSpc>
              <a:buSzPct val="100000"/>
              <a:buChar char="•"/>
            </a:pPr>
            <a:r>
              <a:rPr lang="en-US" sz="1400" dirty="0">
                <a:solidFill>
                  <a:srgbClr val="D7D4CC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Regresión logística: 0,6911 → 0,6915
Random Forest: 0,6496 → 0,6903
LightGBM: 0,6863 → 0,6931</a:t>
            </a:r>
            <a:r>
              <a:rPr lang="en-US" sz="1400" b="1" dirty="0">
                <a:solidFill>
                  <a:srgbClr val="D7D4CC"/>
                </a:solidFill>
                <a:latin typeface="Raleway Bold" pitchFamily="34" charset="0"/>
                <a:ea typeface="Raleway Bold" pitchFamily="34" charset="-122"/>
                <a:cs typeface="Raleway Bold" pitchFamily="34" charset="-120"/>
              </a:rPr>
              <a:t/>
            </a:r>
            <a:r>
              <a:rPr lang="en-US" sz="1400" dirty="0">
                <a:solidFill>
                  <a:srgbClr val="D7D4CC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/>
            </a:r>
            <a:endParaRPr lang="en-US" sz="1400" dirty="0"/>
          </a:p>
          <a:p>
            <a:pPr marL="284480" indent="-284480" algn="l">
              <a:lnSpc>
                <a:spcPct val="125000"/>
              </a:lnSpc>
              <a:buSzPct val="100000"/>
              <a:buChar char="•"/>
            </a:pPr>
            <a:r>
              <a:rPr lang="en-US" sz="1400" dirty="0">
                <a:solidFill>
                  <a:srgbClr val="D7D4CC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/>
            </a:r>
            <a:r>
              <a:rPr lang="en-US" sz="1400" b="1" dirty="0">
                <a:solidFill>
                  <a:srgbClr val="D7D4CC"/>
                </a:solidFill>
                <a:latin typeface="Raleway Bold" pitchFamily="34" charset="0"/>
                <a:ea typeface="Raleway Bold" pitchFamily="34" charset="-122"/>
                <a:cs typeface="Raleway Bold" pitchFamily="34" charset="-120"/>
              </a:rPr>
              <a:t/>
            </a:r>
            <a:r>
              <a:rPr lang="en-US" sz="1400" dirty="0">
                <a:solidFill>
                  <a:srgbClr val="D7D4CC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/>
            </a:r>
            <a:endParaRPr lang="en-US" sz="1400" dirty="0"/>
          </a:p>
          <a:p>
            <a:pPr marL="284480" indent="-284480" algn="l">
              <a:lnSpc>
                <a:spcPct val="125000"/>
              </a:lnSpc>
              <a:buSzPct val="100000"/>
              <a:buChar char="•"/>
            </a:pPr>
            <a:r>
              <a:rPr lang="en-US" sz="1400" dirty="0">
                <a:solidFill>
                  <a:srgbClr val="D7D4CC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/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000701" y="3550642"/>
            <a:ext cx="3463045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FFE14D"/>
                </a:solidFill>
                <a:latin typeface="Comfortaa Bold" pitchFamily="34" charset="0"/>
                <a:ea typeface="Comfortaa Bold" pitchFamily="34" charset="-122"/>
                <a:cs typeface="Comfortaa Bold" pitchFamily="34" charset="-120"/>
              </a:rPr>
              <a:t>Selección del modelo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000701" y="3964087"/>
            <a:ext cx="3463045" cy="1755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84480" indent="-284480" algn="l">
              <a:lnSpc>
                <a:spcPct val="125000"/>
              </a:lnSpc>
              <a:buSzPct val="100000"/>
              <a:buChar char="•"/>
            </a:pPr>
            <a:r>
              <a:rPr lang="en-US" sz="1400" dirty="0">
                <a:solidFill>
                  <a:srgbClr val="D7D4CC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LightGBM tuvo mejor AUC en validación y menor variación entre pliegues. La regresión logística siguió muy cerca; la mejora de complejidad es pequeña.</a:t>
            </a:r>
            <a:endParaRPr lang="en-US" sz="1400" dirty="0"/>
          </a:p>
          <a:p>
            <a:pPr marL="284480" indent="-284480" algn="l">
              <a:lnSpc>
                <a:spcPct val="125000"/>
              </a:lnSpc>
              <a:buSzPct val="100000"/>
              <a:buChar char="•"/>
            </a:pPr>
            <a:r>
              <a:rPr lang="en-US" sz="1400" dirty="0">
                <a:solidFill>
                  <a:srgbClr val="D7D4CC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/>
            </a:r>
            <a:endParaRPr lang="en-US" sz="1400" dirty="0"/>
          </a:p>
          <a:p>
            <a:pPr marL="284480" indent="-284480" algn="l">
              <a:lnSpc>
                <a:spcPct val="125000"/>
              </a:lnSpc>
              <a:buSzPct val="100000"/>
              <a:buChar char="•"/>
            </a:pPr>
            <a:r>
              <a:rPr lang="en-US" sz="1400" dirty="0">
                <a:solidFill>
                  <a:srgbClr val="D7D4CC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/>
            </a:r>
            <a:endParaRPr lang="en-US" sz="1400" dirty="0"/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7AD96052-F55E-F9E5-8C9F-244FFBBDA2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86946" y="6530691"/>
            <a:ext cx="1105054" cy="314369"/>
          </a:xfrm>
          <a:prstGeom prst="rect">
            <a:avLst/>
          </a:prstGeom>
        </p:spPr>
      </p:pic>
      <p:pic>
        <p:nvPicPr>
          <p:cNvPr id="14" name="Picture 13" descr="18_ajuste_hiperparametro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7515" y="3218608"/>
            <a:ext cx="5367746" cy="190967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4200" y="610791"/>
            <a:ext cx="10723294" cy="8741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b="1" dirty="0">
                <a:solidFill>
                  <a:srgbClr val="FFE14D"/>
                </a:solidFill>
                <a:latin typeface="Comfortaa Bold" pitchFamily="34" charset="0"/>
                <a:ea typeface="Comfortaa Bold" pitchFamily="34" charset="-122"/>
                <a:cs typeface="Comfortaa Bold" pitchFamily="34" charset="-120"/>
              </a:rPr>
              <a:t>Los cuatro enfoques rinden de forma parecida en prueba</a:t>
            </a:r>
            <a:endParaRPr lang="en-US" sz="2750" dirty="0"/>
          </a:p>
        </p:txBody>
      </p:sp>
      <p:sp>
        <p:nvSpPr>
          <p:cNvPr id="3" name="Text 1"/>
          <p:cNvSpPr/>
          <p:nvPr/>
        </p:nvSpPr>
        <p:spPr>
          <a:xfrm>
            <a:off x="734200" y="1779885"/>
            <a:ext cx="3503624" cy="218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FFE14D"/>
                </a:solidFill>
                <a:latin typeface="Comfortaa Bold" pitchFamily="34" charset="0"/>
                <a:ea typeface="Comfortaa Bold" pitchFamily="34" charset="-122"/>
                <a:cs typeface="Comfortaa Bold" pitchFamily="34" charset="-120"/>
              </a:rPr>
              <a:t>AUC-ROC / AUC-PR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734200" y="2116336"/>
            <a:ext cx="3503624" cy="16656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43840" indent="-243840" algn="l">
              <a:lnSpc>
                <a:spcPct val="117000"/>
              </a:lnSpc>
              <a:buSzPct val="100000"/>
              <a:buChar char="•"/>
            </a:pPr>
            <a:r>
              <a:rPr lang="en-US" sz="1200" dirty="0">
                <a:solidFill>
                  <a:srgbClr val="D7D4CC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Logística: 0,6892 / 0,1367
Random Forest: 0,6857 / 0,1343
LightGBM: 0,6893 / 0,1389
Ensamble: 0,6907 / 0,1388</a:t>
            </a:r>
            <a:endParaRPr lang="en-US" sz="1200" dirty="0"/>
          </a:p>
          <a:p>
            <a:pPr marL="243840" indent="-243840" algn="l">
              <a:lnSpc>
                <a:spcPct val="117000"/>
              </a:lnSpc>
              <a:buSzPct val="100000"/>
              <a:buChar char="•"/>
            </a:pPr>
            <a:r>
              <a:rPr lang="en-US" sz="1200" dirty="0">
                <a:solidFill>
                  <a:srgbClr val="D7D4CC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/>
            </a:r>
            <a:r>
              <a:rPr lang="en-US" sz="1200" b="1" dirty="0">
                <a:solidFill>
                  <a:srgbClr val="D7D4CC"/>
                </a:solidFill>
                <a:latin typeface="Raleway Bold" pitchFamily="34" charset="0"/>
                <a:ea typeface="Raleway Bold" pitchFamily="34" charset="-122"/>
                <a:cs typeface="Raleway Bold" pitchFamily="34" charset="-120"/>
              </a:rPr>
              <a:t/>
            </a:r>
            <a:r>
              <a:rPr lang="en-US" sz="1200" dirty="0">
                <a:solidFill>
                  <a:srgbClr val="D7D4CC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/>
            </a:r>
            <a:r>
              <a:rPr lang="en-US" sz="1200" b="1" dirty="0">
                <a:solidFill>
                  <a:srgbClr val="D7D4CC"/>
                </a:solidFill>
                <a:latin typeface="Raleway Bold" pitchFamily="34" charset="0"/>
                <a:ea typeface="Raleway Bold" pitchFamily="34" charset="-122"/>
                <a:cs typeface="Raleway Bold" pitchFamily="34" charset="-120"/>
              </a:rPr>
              <a:t/>
            </a:r>
            <a:endParaRPr lang="en-US" sz="1200" dirty="0"/>
          </a:p>
          <a:p>
            <a:pPr marL="243840" indent="-243840" algn="l">
              <a:lnSpc>
                <a:spcPct val="117000"/>
              </a:lnSpc>
              <a:buSzPct val="100000"/>
              <a:buChar char="•"/>
            </a:pPr>
            <a:r>
              <a:rPr lang="en-US" sz="1200" dirty="0">
                <a:solidFill>
                  <a:srgbClr val="D7D4CC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/>
            </a:r>
            <a:r>
              <a:rPr lang="en-US" sz="1200" b="1" dirty="0">
                <a:solidFill>
                  <a:srgbClr val="D7D4CC"/>
                </a:solidFill>
                <a:latin typeface="Raleway Bold" pitchFamily="34" charset="0"/>
                <a:ea typeface="Raleway Bold" pitchFamily="34" charset="-122"/>
                <a:cs typeface="Raleway Bold" pitchFamily="34" charset="-120"/>
              </a:rPr>
              <a:t/>
            </a:r>
            <a:r>
              <a:rPr lang="en-US" sz="1200" dirty="0">
                <a:solidFill>
                  <a:srgbClr val="D7D4CC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/>
            </a:r>
            <a:r>
              <a:rPr lang="en-US" sz="1200" b="1" dirty="0">
                <a:solidFill>
                  <a:srgbClr val="D7D4CC"/>
                </a:solidFill>
                <a:latin typeface="Raleway Bold" pitchFamily="34" charset="0"/>
                <a:ea typeface="Raleway Bold" pitchFamily="34" charset="-122"/>
                <a:cs typeface="Raleway Bold" pitchFamily="34" charset="-120"/>
              </a:rPr>
              <a:t/>
            </a:r>
            <a:endParaRPr lang="en-US" sz="1200" dirty="0"/>
          </a:p>
          <a:p>
            <a:pPr marL="243840" indent="-243840" algn="l">
              <a:lnSpc>
                <a:spcPct val="117000"/>
              </a:lnSpc>
              <a:buSzPct val="100000"/>
              <a:buChar char="•"/>
            </a:pPr>
            <a:r>
              <a:rPr lang="en-US" sz="1200" dirty="0">
                <a:solidFill>
                  <a:srgbClr val="D7D4CC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/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4200" y="3899991"/>
            <a:ext cx="3503624" cy="218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FFE14D"/>
                </a:solidFill>
                <a:latin typeface="Comfortaa Bold" pitchFamily="34" charset="0"/>
                <a:ea typeface="Comfortaa Bold" pitchFamily="34" charset="-122"/>
                <a:cs typeface="Comfortaa Bold" pitchFamily="34" charset="-120"/>
              </a:rPr>
              <a:t>Lectura cautelosa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4200" y="4236442"/>
            <a:ext cx="3503624" cy="4405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200" dirty="0">
                <a:solidFill>
                  <a:srgbClr val="D7D4CC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Las diferencias de AUC-ROC son menores de 0,005. No se estimó incertidumbre estadística.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4200" y="4809728"/>
            <a:ext cx="3503624" cy="951706"/>
          </a:xfrm>
          <a:prstGeom prst="roundRect">
            <a:avLst>
              <a:gd name="adj" fmla="val 24800"/>
            </a:avLst>
          </a:prstGeom>
          <a:solidFill>
            <a:srgbClr val="806A00"/>
          </a:solidFill>
          <a:ln/>
        </p:spPr>
        <p:txBody>
          <a:bodyPr/>
          <a:lstStyle/>
          <a:p>
            <a:endParaRPr lang="es-GT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458" y="4988123"/>
            <a:ext cx="196647" cy="15726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45363" y="4955183"/>
            <a:ext cx="2835204" cy="6607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Elegimos LightGBM por validación, AUC-PR y costo operativo.</a:t>
            </a:r>
            <a:endParaRPr lang="en-US" sz="1200" dirty="0"/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8CBC069D-A334-15D1-1A8B-86CDD9A8B2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86946" y="6530691"/>
            <a:ext cx="1105054" cy="314369"/>
          </a:xfrm>
          <a:prstGeom prst="rect">
            <a:avLst/>
          </a:prstGeom>
        </p:spPr>
      </p:pic>
      <p:pic>
        <p:nvPicPr>
          <p:cNvPr id="17" name="Picture 16" descr="19_curvas_roc_p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90401" y="2617018"/>
            <a:ext cx="4972024" cy="212927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445A7639-7D4E-0C0C-D9E8-F4A293DD51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6946" y="6530691"/>
            <a:ext cx="1105054" cy="314369"/>
          </a:xfrm>
          <a:prstGeom prst="rect">
            <a:avLst/>
          </a:prstGeom>
        </p:spPr>
      </p:pic>
      <p:pic>
        <p:nvPicPr>
          <p:cNvPr id="6" name="Picture 5" descr="figura_comparacion_presentac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339" y="1867693"/>
            <a:ext cx="10557322" cy="2915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157914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4200" y="724991"/>
            <a:ext cx="10723294" cy="553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50" b="1" dirty="0">
                <a:solidFill>
                  <a:srgbClr val="FFE14D"/>
                </a:solidFill>
                <a:latin typeface="Comfortaa Bold" pitchFamily="34" charset="0"/>
                <a:ea typeface="Comfortaa Bold" pitchFamily="34" charset="-122"/>
                <a:cs typeface="Comfortaa Bold" pitchFamily="34" charset="-120"/>
              </a:rPr>
              <a:t>Conclusiones y límites</a:t>
            </a:r>
            <a:endParaRPr lang="en-US" sz="3450" dirty="0"/>
          </a:p>
        </p:txBody>
      </p:sp>
      <p:sp>
        <p:nvSpPr>
          <p:cNvPr id="3" name="Text 1"/>
          <p:cNvSpPr/>
          <p:nvPr/>
        </p:nvSpPr>
        <p:spPr>
          <a:xfrm>
            <a:off x="734200" y="1751905"/>
            <a:ext cx="5118567" cy="2768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b="1" dirty="0">
                <a:solidFill>
                  <a:srgbClr val="FFE14D"/>
                </a:solidFill>
                <a:latin typeface="Comfortaa Bold" pitchFamily="34" charset="0"/>
                <a:ea typeface="Comfortaa Bold" pitchFamily="34" charset="-122"/>
                <a:cs typeface="Comfortaa Bold" pitchFamily="34" charset="-120"/>
              </a:rPr>
              <a:t>Resultados principales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734200" y="2218035"/>
            <a:ext cx="5118567" cy="23751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14960" indent="-314960" algn="l">
              <a:lnSpc>
                <a:spcPct val="130000"/>
              </a:lnSpc>
              <a:buSzPct val="100000"/>
              <a:buChar char="•"/>
            </a:pPr>
            <a:r>
              <a:rPr lang="en-US" sz="1550" dirty="0">
                <a:solidFill>
                  <a:srgbClr val="D7D4CC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64 variables y cuatro enfoques comparados
LightGBM: AUC-ROC 0,6893; AUC-PR 0,1389
El 10 % superior concentra 27,08 % de los recurrentes
Aplicación con exploración, comparación y clasificación</a:t>
            </a:r>
            <a:endParaRPr lang="en-US" sz="1550" dirty="0"/>
          </a:p>
          <a:p>
            <a:pPr marL="314960" indent="-314960" algn="l">
              <a:lnSpc>
                <a:spcPct val="130000"/>
              </a:lnSpc>
              <a:buSzPct val="100000"/>
              <a:buChar char="•"/>
            </a:pPr>
            <a:r>
              <a:rPr lang="en-US" sz="1550" dirty="0">
                <a:solidFill>
                  <a:srgbClr val="D7D4CC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/>
            </a:r>
            <a:endParaRPr lang="en-US" sz="1550" dirty="0"/>
          </a:p>
          <a:p>
            <a:pPr marL="314960" indent="-314960" algn="l">
              <a:lnSpc>
                <a:spcPct val="130000"/>
              </a:lnSpc>
              <a:buSzPct val="100000"/>
              <a:buChar char="•"/>
            </a:pPr>
            <a:r>
              <a:rPr lang="en-US" sz="1550" dirty="0">
                <a:solidFill>
                  <a:srgbClr val="D7D4CC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/>
            </a:r>
            <a:endParaRPr lang="en-US" sz="1550" dirty="0"/>
          </a:p>
          <a:p>
            <a:pPr marL="314960" indent="-314960" algn="l">
              <a:lnSpc>
                <a:spcPct val="130000"/>
              </a:lnSpc>
              <a:buSzPct val="100000"/>
              <a:buChar char="•"/>
            </a:pPr>
            <a:r>
              <a:rPr lang="en-US" sz="1550" dirty="0">
                <a:solidFill>
                  <a:srgbClr val="D7D4CC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/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6345277" y="1751905"/>
            <a:ext cx="5118567" cy="2768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b="1" dirty="0">
                <a:solidFill>
                  <a:srgbClr val="FFE14D"/>
                </a:solidFill>
                <a:latin typeface="Comfortaa Bold" pitchFamily="34" charset="0"/>
                <a:ea typeface="Comfortaa Bold" pitchFamily="34" charset="-122"/>
                <a:cs typeface="Comfortaa Bold" pitchFamily="34" charset="-120"/>
              </a:rPr>
              <a:t>Límites y siguientes pasos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345277" y="2218035"/>
            <a:ext cx="5118567" cy="23751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14960" indent="-314960" algn="l">
              <a:lnSpc>
                <a:spcPct val="130000"/>
              </a:lnSpc>
              <a:buSzPct val="100000"/>
              <a:buChar char="•"/>
            </a:pPr>
            <a:r>
              <a:rPr lang="en-US" sz="1550" dirty="0">
                <a:solidFill>
                  <a:srgbClr val="D7D4CC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Prueba oficial sin etiqueta y un solo periodo
Puntajes sin calibración probabilística
Faltan costos para elegir un umbral comercial
Validar en otro periodo y calibrar antes de desplegar</a:t>
            </a:r>
            <a:endParaRPr lang="en-US" sz="1550" dirty="0"/>
          </a:p>
          <a:p>
            <a:pPr marL="314960" indent="-314960" algn="l">
              <a:lnSpc>
                <a:spcPct val="130000"/>
              </a:lnSpc>
              <a:buSzPct val="100000"/>
              <a:buChar char="•"/>
            </a:pPr>
            <a:r>
              <a:rPr lang="en-US" sz="1550" dirty="0">
                <a:solidFill>
                  <a:srgbClr val="D7D4CC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/>
            </a:r>
            <a:endParaRPr lang="en-US" sz="1550" dirty="0"/>
          </a:p>
          <a:p>
            <a:pPr marL="314960" indent="-314960" algn="l">
              <a:lnSpc>
                <a:spcPct val="130000"/>
              </a:lnSpc>
              <a:buSzPct val="100000"/>
              <a:buChar char="•"/>
            </a:pPr>
            <a:r>
              <a:rPr lang="en-US" sz="1550" dirty="0">
                <a:solidFill>
                  <a:srgbClr val="D7D4CC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/>
            </a:r>
            <a:endParaRPr lang="en-US" sz="1550" dirty="0"/>
          </a:p>
          <a:p>
            <a:pPr marL="314960" indent="-314960" algn="l">
              <a:lnSpc>
                <a:spcPct val="130000"/>
              </a:lnSpc>
              <a:buSzPct val="100000"/>
              <a:buChar char="•"/>
            </a:pPr>
            <a:r>
              <a:rPr lang="en-US" sz="1550" dirty="0">
                <a:solidFill>
                  <a:srgbClr val="D7D4CC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/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033139" y="5085259"/>
            <a:ext cx="11033940" cy="3109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550" dirty="0">
                <a:solidFill>
                  <a:srgbClr val="D7D4CC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Los resultados apoyan priorización prudente; no prueban causalidad ni retorno económico.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34200" y="4872335"/>
            <a:ext cx="25399" cy="736798"/>
          </a:xfrm>
          <a:prstGeom prst="roundRect">
            <a:avLst>
              <a:gd name="adj" fmla="val 50001"/>
            </a:avLst>
          </a:prstGeom>
          <a:solidFill>
            <a:srgbClr val="FFE14D"/>
          </a:solidFill>
          <a:ln/>
        </p:spPr>
        <p:txBody>
          <a:bodyPr/>
          <a:lstStyle/>
          <a:p>
            <a:endParaRPr lang="es-GT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E1DCB901-49BA-28C0-0DD5-BA3F46ECAB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6946" y="6530691"/>
            <a:ext cx="1105054" cy="31436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670</Words>
  <Application>Microsoft Office PowerPoint</Application>
  <PresentationFormat>Panorámica</PresentationFormat>
  <Paragraphs>99</Paragraphs>
  <Slides>11</Slides>
  <Notes>10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6" baseType="lpstr">
      <vt:lpstr>Arial</vt:lpstr>
      <vt:lpstr>Raleway Medium</vt:lpstr>
      <vt:lpstr>Comfortaa Bold</vt:lpstr>
      <vt:lpstr>Raleway Bold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Proyecto 2 - Resultados y Visualizaciones Estáticas</dc:title>
  <dc:subject/>
  <dc:creator/>
  <cp:lastModifiedBy>DOMINGUEZ RAMIREZ, DAVID ANDRES</cp:lastModifiedBy>
  <cp:revision>3</cp:revision>
  <dcterms:created xsi:type="dcterms:W3CDTF">2026-09-05T04:12:44Z</dcterms:created>
  <dcterms:modified xsi:type="dcterms:W3CDTF">2026-09-05T04:49:05Z</dcterms:modified>
</cp:coreProperties>
</file>