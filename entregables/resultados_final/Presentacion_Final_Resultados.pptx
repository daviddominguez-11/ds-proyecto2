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embeddedFontLst>
    <p:embeddedFont>
      <p:font typeface="Comfortaa Bold" panose="020B0604020202020204" charset="0"/>
      <p:regular r:id="rId14"/>
    </p:embeddedFont>
    <p:embeddedFont>
      <p:font typeface="Raleway Bold" panose="020B0604020202020204" charset="0"/>
      <p:regular r:id="rId15"/>
    </p:embeddedFont>
    <p:embeddedFont>
      <p:font typeface="Raleway Medium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8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864519"/>
            <a:ext cx="10723294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Predicción de compradores recurrentes en Tmall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3113782"/>
            <a:ext cx="1072329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Resultados y visualizaciones estáticas · entrega final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4200" y="3772198"/>
            <a:ext cx="10723294" cy="25400"/>
          </a:xfrm>
          <a:prstGeom prst="roundRect">
            <a:avLst>
              <a:gd name="adj" fmla="val 49999"/>
            </a:avLst>
          </a:prstGeom>
          <a:solidFill>
            <a:srgbClr val="D7D4CC">
              <a:alpha val="5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734200" y="4085927"/>
            <a:ext cx="10723294" cy="907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Grupo 4 · Proyecto 2 · Resultados y Visualizaciones Estáticas
David Dominguez · 23712  |  Gabriel Bran · 23590  |  Luis Padilla · 23663</a:t>
            </a: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6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CAC51A-739B-F36E-AC01-DB37167D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59619"/>
            <a:ext cx="10723294" cy="400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La pregunta: ¿quién volverá a comprar al mismo vendedor?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4200" y="1358503"/>
            <a:ext cx="10723294" cy="653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Unidad de análisis: par usuario-vendedor de Tmall tras Double 11.
260 864 pares etiquetados; 15 952 compradores recurrentes (6,12 %).
La prueba oficial no tiene etiquetas: evaluamos una partición interna.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414324" y="5109834"/>
            <a:ext cx="1760069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/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414324" y="4260540"/>
            <a:ext cx="1748139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/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414324" y="3419825"/>
            <a:ext cx="1715702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/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14324" y="2570531"/>
            <a:ext cx="1715702" cy="21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/>
            </a:r>
            <a:endParaRPr lang="en-US" sz="13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E1A549B-383D-B935-9321-A440E1464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12" name="Picture 11" descr="01_distribucion_recomp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851" y="2189241"/>
            <a:ext cx="8507894" cy="3536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90265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Objetivos del estudio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048815" y="1928515"/>
            <a:ext cx="10408679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¿Qué señales disponibles hasta el Double 11 permiten ordenar pares comprador-vendedor por su recompra posterior?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200" y="1692573"/>
            <a:ext cx="25399" cy="1143397"/>
          </a:xfrm>
          <a:prstGeom prst="roundRect">
            <a:avLst>
              <a:gd name="adj" fmla="val 50001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3071912"/>
            <a:ext cx="3434570" cy="2524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4178" y="3215283"/>
            <a:ext cx="314615" cy="393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969343" y="3936405"/>
            <a:ext cx="296428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Caracterizar los datos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9343" y="4353620"/>
            <a:ext cx="2964284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Calidad, desbalance, actividad, demografía y tiempo.</a:t>
            </a:r>
            <a:endParaRPr lang="en-US" sz="1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8513" y="3071912"/>
            <a:ext cx="3434570" cy="2524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38490" y="3215283"/>
            <a:ext cx="314615" cy="393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4613656" y="3936405"/>
            <a:ext cx="296428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Construir y comparar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13656" y="4353620"/>
            <a:ext cx="296428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64 variables; tres algoritmos y un ensamble con usuarios separados.</a:t>
            </a:r>
            <a:endParaRPr lang="en-US" sz="1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2826" y="3071912"/>
            <a:ext cx="3434669" cy="2524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82803" y="3215283"/>
            <a:ext cx="314615" cy="393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8257968" y="3936405"/>
            <a:ext cx="296438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Integrar en la aplicación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57968" y="4353620"/>
            <a:ext cx="2964384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Explorar, comparar modelos y clasificar pares.</a:t>
            </a:r>
            <a:endParaRPr lang="en-US" sz="16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19AAA59-767F-744A-C110-AB9442C7A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45430"/>
            <a:ext cx="10723294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Diseño analítico: comportamiento, prueba y utilidad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34200" y="2330450"/>
            <a:ext cx="3434570" cy="2135386"/>
          </a:xfrm>
          <a:prstGeom prst="roundRect">
            <a:avLst>
              <a:gd name="adj" fmla="val 1473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43944" y="2540198"/>
            <a:ext cx="301508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Unidad y momento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3944" y="2957413"/>
            <a:ext cx="3015083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 usuario-vendedor; actividad anterior o del 11/11.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78513" y="2330450"/>
            <a:ext cx="3434570" cy="2135386"/>
          </a:xfrm>
          <a:prstGeom prst="roundRect">
            <a:avLst>
              <a:gd name="adj" fmla="val 1473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4588256" y="2540198"/>
            <a:ext cx="301508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Validación agrupada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8256" y="3248819"/>
            <a:ext cx="3015083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Usuarios separados en entrenamiento, validación y prueba interna.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22826" y="2330450"/>
            <a:ext cx="3434669" cy="2135386"/>
          </a:xfrm>
          <a:prstGeom prst="roundRect">
            <a:avLst>
              <a:gd name="adj" fmla="val 1473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8232569" y="2540198"/>
            <a:ext cx="301518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Uso de resultados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32569" y="2957413"/>
            <a:ext cx="3015182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Priorizar acciones de retención con capacidad limitada.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4200" y="4701778"/>
            <a:ext cx="10723294" cy="839093"/>
          </a:xfrm>
          <a:prstGeom prst="roundRect">
            <a:avLst>
              <a:gd name="adj" fmla="val 37505"/>
            </a:avLst>
          </a:prstGeom>
          <a:solidFill>
            <a:srgbClr val="806A00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44" y="5002609"/>
            <a:ext cx="262229" cy="2097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5915" y="4963914"/>
            <a:ext cx="1044142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Las asociaciones y las importancias de variables no demuestran causalidad.</a:t>
            </a:r>
            <a:r>
              <a:rPr lang="en-US" sz="16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6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613F56F-3A84-88DF-49D7-183B3A431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98884"/>
            <a:ext cx="1072329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Datos y selección de variables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34200" y="1453654"/>
            <a:ext cx="3474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Fuentes de Tmall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4200" y="1844278"/>
            <a:ext cx="3474752" cy="252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260 864 pares etiquetados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261 477 pares sin etiqueta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424 170 perfiles de usuario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54 925 330 acciones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4200" y="4517529"/>
            <a:ext cx="3474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Entradas al modelo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4200" y="4908153"/>
            <a:ext cx="3474752" cy="876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64 variables construidas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+ vendedor codificado = 65 entradas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0" y="4517529"/>
            <a:ext cx="682022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Justificación y control de fuga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0" y="4908153"/>
            <a:ext cx="6820225" cy="118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Actividad y diversidad: asociación observada en el EDA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Fidelidad del vendedor: AUC individual 0,622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Señales del par hasta 11/11; codificación sin fuga</a:t>
            </a:r>
            <a:endParaRPr lang="en-US" sz="1350" dirty="0"/>
          </a:p>
          <a:p>
            <a:pPr marL="274320" indent="-274320" algn="l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3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DCC056F-DA8F-CF24-D94A-442B5BE29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14" name="Picture 13" descr="featu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1490472"/>
            <a:ext cx="7150608" cy="2542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9239"/>
            <a:ext cx="10723294" cy="573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Solo 6,12 % de los pares registra recompra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38105" y="1661120"/>
            <a:ext cx="3425640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Distribución de clases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38105" y="2151261"/>
            <a:ext cx="3425640" cy="1382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2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No recurrentes: 244 912 (93,88 %)
Recurrentes: 15 952 (6,12 %)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600" dirty="0"/>
          </a:p>
          <a:p>
            <a:pPr marL="325120" indent="-325120" algn="l">
              <a:lnSpc>
                <a:spcPct val="132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38105" y="3737372"/>
            <a:ext cx="3425640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Consecuencia para evaluar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38105" y="4227513"/>
            <a:ext cx="3425640" cy="1311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Una predicción siempre negativa daría 93,88 % de exactitud. Por ello comparamos AUC-ROC, AUC-PR, F1 y captura del 10 % superior.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AAEE911-45BE-2AD9-4694-3AE99A529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12" name="Picture 11" descr="01_distribucion_recomp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04" y="2105169"/>
            <a:ext cx="7056983" cy="29338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7949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Actividad y diversidad: señales de recompra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8026695" y="1604863"/>
            <a:ext cx="343714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Hallazgos exploratorios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26695" y="2070993"/>
            <a:ext cx="3437149" cy="3619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Interacciones promedio con el vendedor: 17,149 en recurrentes y 10,415 en no recurrentes.
Productos distintos: 7,471 frente a 4,179.
Actividad previa: recompra 7,36 % frente a 5,14 %.
Son asociaciones, no efectos de aumentar visitas.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2ABD59F-8399-AEB1-2A41-696CB1189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13" name="Picture 12" descr="10_label_vs_diversid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2814794"/>
            <a:ext cx="6071616" cy="2014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9543"/>
            <a:ext cx="10723294" cy="1016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Modelos y ajuste de hiperparámetros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00701" y="2044402"/>
            <a:ext cx="346304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Modelos y parámetros clave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0701" y="2457847"/>
            <a:ext cx="3463045" cy="933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Logística: lineal; C = 0,00127</a:t>
            </a: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Forest: árboles; mínimo 167 por hoja</a:t>
            </a: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LightGBM: boosting; tasa = 0,0078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00701" y="3550642"/>
            <a:ext cx="346304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AUC-ROC en validación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00701" y="3964087"/>
            <a:ext cx="3463045" cy="175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Logística: 0,6911 → 0,6915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Forest: 0,6496 → 0,6903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LightGBM: 0,6863 → 0,6931</a:t>
            </a:r>
            <a:endParaRPr lang="en-US" sz="1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AD96052-F55E-F9E5-8C9F-244FFBBDA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14" name="Picture 13" descr="aju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016" y="2048256"/>
            <a:ext cx="5367528" cy="4261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0791"/>
            <a:ext cx="10723294" cy="87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Los cuatro enfoques rinden de forma parecida en prueba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34200" y="1779885"/>
            <a:ext cx="350362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AUC-ROC / AUC-PR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4200" y="2116336"/>
            <a:ext cx="3503624" cy="16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Logística: 0,6892 / 0,1367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Forest: 0,6857 / 0,1343</a:t>
            </a: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LightGBM: 0,6893 / 0,1389</a:t>
            </a: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/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Ensamble: 0,6907 / 0,1388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4200" y="3899991"/>
            <a:ext cx="350362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Lectura cautelosa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4200" y="4236442"/>
            <a:ext cx="350362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Brecha máxima ≈0,005; sin prueba estadística.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4200" y="4809728"/>
            <a:ext cx="3503624" cy="951706"/>
          </a:xfrm>
          <a:prstGeom prst="roundRect">
            <a:avLst>
              <a:gd name="adj" fmla="val 24800"/>
            </a:avLst>
          </a:prstGeom>
          <a:solidFill>
            <a:srgbClr val="806A00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58" y="4988123"/>
            <a:ext cx="196647" cy="1572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5363" y="4955183"/>
            <a:ext cx="2835204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Elegimos LightGBM por validación, AUC-PR y costo operativo.</a:t>
            </a:r>
            <a:endParaRPr lang="en-US" sz="12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CBC069D-A334-15D1-1A8B-86CDD9A8B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17" name="Picture 16" descr="19_curvas_roc_p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0401" y="2617018"/>
            <a:ext cx="4972024" cy="2129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45A7639-7D4E-0C0C-D9E8-F4A293DD5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  <p:pic>
        <p:nvPicPr>
          <p:cNvPr id="6" name="Picture 5" descr="resultados_prue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39" y="1867693"/>
            <a:ext cx="10557322" cy="291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79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24991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Conclusiones y límites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34200" y="1751905"/>
            <a:ext cx="511856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Resultados principales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4200" y="2218035"/>
            <a:ext cx="5118567" cy="237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64 variables y cuatro enfoques comparados
LightGBM: AUC-ROC 0,6893; AUC-PR 0,1389
El 10 % superior concentra 27,08 % de los recurrentes
Aplicación con exploración, comparación y clasificación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45277" y="1751905"/>
            <a:ext cx="511856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Límites y siguientes pasos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5277" y="2218035"/>
            <a:ext cx="5118567" cy="237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Prueba oficial sin etiqueta y un solo periodo
Puntajes sin calibración probabilística
Faltan costos para elegir un umbral comercial
Validar en otro periodo y calibrar antes de desplegar</a:t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  <a:p>
            <a:pPr marL="314960" indent="-314960" algn="l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/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33139" y="5085259"/>
            <a:ext cx="11033940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Los resultados apoyan priorización prudente; no prueban causalidad ni retorno económico.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4200" y="4872335"/>
            <a:ext cx="25399" cy="736798"/>
          </a:xfrm>
          <a:prstGeom prst="roundRect">
            <a:avLst>
              <a:gd name="adj" fmla="val 50001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1DCB901-49BA-28C0-0DD5-BA3F46EC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946" y="6530691"/>
            <a:ext cx="1105054" cy="314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670</Words>
  <Application>Microsoft Office PowerPoint</Application>
  <PresentationFormat>Panorámica</PresentationFormat>
  <Paragraphs>99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Raleway Medium</vt:lpstr>
      <vt:lpstr>Comfortaa Bold</vt:lpstr>
      <vt:lpstr>Raleway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2 - Resultados y Visualizaciones Estáticas</dc:title>
  <dc:subject/>
  <dc:creator/>
  <cp:lastModifiedBy>DOMINGUEZ RAMIREZ, DAVID ANDRES</cp:lastModifiedBy>
  <cp:revision>3</cp:revision>
  <dcterms:created xsi:type="dcterms:W3CDTF">2026-09-05T04:12:44Z</dcterms:created>
  <dcterms:modified xsi:type="dcterms:W3CDTF">2026-09-05T04:49:05Z</dcterms:modified>
</cp:coreProperties>
</file>